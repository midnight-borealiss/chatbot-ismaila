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15F6A"/>
          </a:solidFill>
          <a:ln w="12700">
            <a:solidFill>
              <a:srgbClr val="015F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0292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ISMaiLa v2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20040" y="138988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8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rôle au cœur du système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2011680"/>
            <a:ext cx="45720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176272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1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pratique — Contributeurs &amp; Validateurs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2743200"/>
            <a:ext cx="2743200" cy="1371600"/>
          </a:xfrm>
          <a:prstGeom prst="rect">
            <a:avLst/>
          </a:prstGeom>
          <a:solidFill>
            <a:srgbClr val="015F6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8346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CONTRIBUTEUR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0040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des réponses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64408" y="2743200"/>
            <a:ext cx="2743200" cy="1371600"/>
          </a:xfrm>
          <a:prstGeom prst="rect">
            <a:avLst/>
          </a:prstGeom>
          <a:solidFill>
            <a:srgbClr val="015F6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28346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VALIDATEUR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64408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 l'information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08776" y="2743200"/>
            <a:ext cx="2743200" cy="1371600"/>
          </a:xfrm>
          <a:prstGeom prst="rect">
            <a:avLst/>
          </a:prstGeom>
          <a:solidFill>
            <a:srgbClr val="015F6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08776" y="28346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08776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Reçoit les alertes ciblées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0040" y="446227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 Supérieur de Management  —  Session de lancement  |  Avril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votre participation est irremplaçable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6052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86968"/>
            <a:ext cx="4160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ISMaiLa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4160520" cy="329184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L'étudiant appelle 3 fois avant d'avoir quelqu'un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216712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même question répétée consomme votre temps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2916936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L'information donnée varie selon l'interlocuteur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3666744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traçabilité des questions posées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54880" y="868680"/>
            <a:ext cx="4160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886968"/>
            <a:ext cx="4160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ISMaiLa + votre expertise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1325880"/>
            <a:ext cx="4160520" cy="329184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4173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immédiate 24h/24, certifiée par vous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92040" y="216712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répondez UNE fois → le système répond 1000 fois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92040" y="2916936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L'information est homogène et traçable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892040" y="3666744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voyez quelles questions reviennent le plus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workflow de certification — vue complète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1554480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86968"/>
            <a:ext cx="15544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 / Prospect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7280" y="1280160"/>
            <a:ext cx="36576" cy="2286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08760"/>
            <a:ext cx="1554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600200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une question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74520" y="2834640"/>
            <a:ext cx="16459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39112" y="868680"/>
            <a:ext cx="155448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39112" y="886968"/>
            <a:ext cx="15544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NLP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16352" y="1280160"/>
            <a:ext cx="36576" cy="228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39112" y="1508760"/>
            <a:ext cx="1554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12264" y="1600200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&lt; 0.75 → ticket créé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593592" y="2834640"/>
            <a:ext cx="16459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58184" y="868680"/>
            <a:ext cx="155448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58184" y="886968"/>
            <a:ext cx="15544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Contributeur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35424" y="1280160"/>
            <a:ext cx="36576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58184" y="1508760"/>
            <a:ext cx="1554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31336" y="1600200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une réponse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12664" y="2834640"/>
            <a:ext cx="16459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77256" y="868680"/>
            <a:ext cx="1554480" cy="41148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77256" y="886968"/>
            <a:ext cx="15544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Validateur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54496" y="1280160"/>
            <a:ext cx="36576" cy="2286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77256" y="1508760"/>
            <a:ext cx="1554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50408" y="1600200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 et publie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031736" y="2834640"/>
            <a:ext cx="16459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96328" y="868680"/>
            <a:ext cx="155448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96328" y="886968"/>
            <a:ext cx="15544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 notifié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973568" y="1280160"/>
            <a:ext cx="36576" cy="228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96328" y="1508760"/>
            <a:ext cx="1554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69480" y="1600200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Reçoit la réponse par mail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4709160"/>
            <a:ext cx="8503920" cy="274320"/>
          </a:xfrm>
          <a:prstGeom prst="rect">
            <a:avLst/>
          </a:prstGeom>
          <a:solidFill>
            <a:srgbClr val="E0F4F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7183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de la question à la réponse certifiée en moins de 48h  (cible finale : 24h)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alertes que vous allez recevoir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503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68680"/>
            <a:ext cx="73152" cy="1188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88720"/>
            <a:ext cx="530352" cy="5303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960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nouvelle question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34440" y="1289304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Dès qu'une question de votre domaine est posée sans réponse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234440" y="15544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 : Nouvelle question [Admission] en attente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Corps : « Y a-t-il des logements étudiants ? 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direct vers l'espace de validation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" y="2212848"/>
            <a:ext cx="8503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040" y="2212848"/>
            <a:ext cx="73152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32888"/>
            <a:ext cx="530352" cy="5303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34440" y="230428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 hebdomadaire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234440" y="263347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Envoyé chaque lundi par l'administrateur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1234440" y="289864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questions en attente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Aperçu des 5 premières questions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vers l'espace de traitement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20040" y="3557016"/>
            <a:ext cx="8503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20040" y="3557016"/>
            <a:ext cx="73152" cy="1188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77056"/>
            <a:ext cx="530352" cy="53035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34440" y="364845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de certification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234440" y="397764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chaque validation effectuée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1234440" y="4242816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que votre réponse est publiée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L'étudiant a été notifié automatiquement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de la KB mise à jour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d'emploi : certifier une réponse en 3 clics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68680"/>
            <a:ext cx="27432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86968"/>
            <a:ext cx="27432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 — Se connecter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463040"/>
            <a:ext cx="731520" cy="731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33172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Accéder à ISMaiLa avec vos identifiants. L'espace Validateur s'affiche automatiquement selon votre rôle.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64408" y="86868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64408" y="868680"/>
            <a:ext cx="27432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64408" y="886968"/>
            <a:ext cx="27432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 — Lire la question</a:t>
            </a:r>
            <a:endParaRPr lang="en-US" sz="13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48" y="1463040"/>
            <a:ext cx="731520" cy="7315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01568" y="233172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question en attente est affichée avec son contexte : qui a demandé, quand, quelle catégorie.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08776" y="86868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08776" y="868680"/>
            <a:ext cx="27432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208776" y="886968"/>
            <a:ext cx="27432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 — Rédiger et certifier</a:t>
            </a:r>
            <a:endParaRPr lang="en-US" sz="13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4616" y="1463040"/>
            <a:ext cx="731520" cy="7315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45936" y="233172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Saisissez la réponse officielle. Cliquez sur « Certifier et Publier ». L'étudiant est notifié automatiquement.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320040" y="4617720"/>
            <a:ext cx="8503920" cy="347472"/>
          </a:xfrm>
          <a:prstGeom prst="rect">
            <a:avLst/>
          </a:prstGeom>
          <a:solidFill>
            <a:srgbClr val="E0F4F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57200" y="463600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moyen estimé par validation : 3 à 5 minutes  —  Fréquence suggérée : 2× par semaine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vos topics d'expertise — RG-03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validateur est associé à un ou plusieurs domaines. Vous ne recevez d'alertes QUE pour vos domaines.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850392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834640" y="12801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couvertes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0" y="128016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Cocher si pertinent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645920"/>
            <a:ext cx="8503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91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34640" y="16916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Conditions, dossiers, dates, concours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589520" y="1709928"/>
            <a:ext cx="25603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029968"/>
            <a:ext cx="8503920" cy="365760"/>
          </a:xfrm>
          <a:prstGeom prst="rect">
            <a:avLst/>
          </a:prstGeom>
          <a:solidFill>
            <a:srgbClr val="E0F4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0756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Bourses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34640" y="207568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de bourses, critères, dépôt de dossier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589520" y="2093976"/>
            <a:ext cx="25603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414016"/>
            <a:ext cx="8503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4597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34640" y="245973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Programme, frais, débouchés du master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589520" y="2478024"/>
            <a:ext cx="25603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798064"/>
            <a:ext cx="8503920" cy="365760"/>
          </a:xfrm>
          <a:prstGeom prst="rect">
            <a:avLst/>
          </a:prstGeom>
          <a:solidFill>
            <a:srgbClr val="E0F4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8437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Scolarité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34640" y="28437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Calendrier, examens, relevés de notes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589520" y="2862072"/>
            <a:ext cx="25603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182112"/>
            <a:ext cx="8503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2278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 campus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834640" y="32278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Logement, associations, restauration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589520" y="3246120"/>
            <a:ext cx="25603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3566160"/>
            <a:ext cx="8503920" cy="365760"/>
          </a:xfrm>
          <a:prstGeom prst="rect">
            <a:avLst/>
          </a:prstGeom>
          <a:solidFill>
            <a:srgbClr val="E0F4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611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Cybersécurité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834640" y="3611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spécialisée, certifications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589520" y="3630168"/>
            <a:ext cx="25603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3950208"/>
            <a:ext cx="8503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9959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Pro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834640" y="39959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Programme, admission, partenariats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589520" y="4014216"/>
            <a:ext cx="25603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" y="4334256"/>
            <a:ext cx="8503920" cy="365760"/>
          </a:xfrm>
          <a:prstGeom prst="rect">
            <a:avLst/>
          </a:prstGeom>
          <a:solidFill>
            <a:srgbClr val="E0F4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3799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Général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834640" y="437997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transversales non catégorisées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589520" y="4398264"/>
            <a:ext cx="25603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voyez sur votre tableau de bord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68680"/>
            <a:ext cx="2743200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0040" y="15361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en attente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86868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868680"/>
            <a:ext cx="2743200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024128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246120" y="15361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Certifiées ce mois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86868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868680"/>
            <a:ext cx="27432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024128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172200" y="15361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NLP moyen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103120"/>
            <a:ext cx="850392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12140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en attente — filtrées pour vos topics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" y="2606040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606040"/>
            <a:ext cx="54864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660904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a-t-il des logements étudiants près du campus 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291693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 campus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32320" y="2715768"/>
            <a:ext cx="1554480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0" y="27157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RÉDIGER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3282696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282696"/>
            <a:ext cx="54864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33756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sont les débouchés du Master en Cybersécurité ?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" y="35935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Cybersécurité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32320" y="3392424"/>
            <a:ext cx="155448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0" y="339242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3959352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3959352"/>
            <a:ext cx="54864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014216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se déroule l'entretien d'admission ?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" y="42702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132320" y="4069080"/>
            <a:ext cx="1554480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0" y="4069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RÉDIGER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L'impact de chaque réponse que vous certifiez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743200" cy="3749040"/>
          </a:xfrm>
          <a:prstGeom prst="rect">
            <a:avLst/>
          </a:prstGeom>
          <a:solidFill>
            <a:srgbClr val="015F6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09728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19659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réponse = 1000 réponses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29768" y="2606040"/>
            <a:ext cx="252374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1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fois certifiée, votre réponse est réutilisée automatiquement par le chatbot pour tous les étudiants qui posent la même question.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264408" y="914400"/>
            <a:ext cx="2743200" cy="3749040"/>
          </a:xfrm>
          <a:prstGeom prst="rect">
            <a:avLst/>
          </a:prstGeom>
          <a:solidFill>
            <a:srgbClr val="015F6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48" y="1097280"/>
            <a:ext cx="731520" cy="7315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55848" y="19659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de temps mesurable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374136" y="2606040"/>
            <a:ext cx="252374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1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question certifiée libère 5 à 10 minutes que vous récupérez. Avec 50 réponses en base, c'est plus de 4h économisées par semaine.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208776" y="914400"/>
            <a:ext cx="2743200" cy="3749040"/>
          </a:xfrm>
          <a:prstGeom prst="rect">
            <a:avLst/>
          </a:prstGeom>
          <a:solidFill>
            <a:srgbClr val="015F6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4616" y="1097280"/>
            <a:ext cx="731520" cy="7315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00216" y="19659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expertise reconnue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318504" y="2606040"/>
            <a:ext cx="252374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1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système trace qui a validé quoi. Votre contribution au savoir institutionnel est documentée et visible par la direction.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vous demandons — maintenant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1554480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6868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74520" y="868680"/>
            <a:ext cx="6949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978408"/>
            <a:ext cx="6675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votre rôle (Contributeur ou Validateur) et vos topics d'expertise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828800"/>
            <a:ext cx="155448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82880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semaine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74520" y="1828800"/>
            <a:ext cx="6949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1938528"/>
            <a:ext cx="6675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Recevoir vos identifiants et vous connecter à l'environnement de test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788920"/>
            <a:ext cx="155448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78892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874520" y="2788920"/>
            <a:ext cx="6949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0" y="2898648"/>
            <a:ext cx="6675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Traiter les 5 premières questions pilotes dans votre domaine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3749040"/>
            <a:ext cx="155448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7490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3–6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874520" y="3749040"/>
            <a:ext cx="6949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0" y="3858768"/>
            <a:ext cx="6675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Participer au pilote avec 50 étudiants et contribuer à l'audit hebdomadaire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engagement  —  ISMaiLa est une réussite collective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ISMaiLa v2 — Guide Chefs de Services</dc:title>
  <dc:subject>PptxGenJS Presentation</dc:subject>
  <dc:creator>PptxGenJS</dc:creator>
  <cp:lastModifiedBy>PptxGenJS</cp:lastModifiedBy>
  <cp:revision>1</cp:revision>
  <dcterms:created xsi:type="dcterms:W3CDTF">2026-04-19T22:16:04Z</dcterms:created>
  <dcterms:modified xsi:type="dcterms:W3CDTF">2026-04-19T22:16:04Z</dcterms:modified>
</cp:coreProperties>
</file>